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88" r:id="rId6"/>
    <p:sldId id="289" r:id="rId7"/>
    <p:sldId id="301" r:id="rId8"/>
    <p:sldId id="302" r:id="rId9"/>
    <p:sldId id="303" r:id="rId10"/>
    <p:sldId id="294" r:id="rId11"/>
    <p:sldId id="295" r:id="rId12"/>
    <p:sldId id="291" r:id="rId13"/>
    <p:sldId id="299" r:id="rId14"/>
    <p:sldId id="269" r:id="rId15"/>
  </p:sldIdLst>
  <p:sldSz cx="12192000" cy="6858000"/>
  <p:notesSz cx="6858000" cy="9144000"/>
  <p:embeddedFontLst>
    <p:embeddedFont>
      <p:font typeface="Montserrat" pitchFamily="2" charset="77"/>
      <p:regular r:id="rId17"/>
      <p:bold r:id="rId18"/>
      <p:italic r:id="rId19"/>
      <p:boldItalic r:id="rId20"/>
    </p:embeddedFont>
    <p:embeddedFont>
      <p:font typeface="Montserrat Black" panose="020F0502020204030204" pitchFamily="34" charset="0"/>
      <p:bold r:id="rId21"/>
      <p:italic r:id="rId22"/>
      <p:boldItalic r:id="rId23"/>
    </p:embeddedFont>
    <p:embeddedFont>
      <p:font typeface="Montserrat ExtraBold" panose="020F0502020204030204" pitchFamily="34" charset="0"/>
      <p:bold r:id="rId24"/>
      <p:italic r:id="rId25"/>
      <p:boldItalic r:id="rId26"/>
    </p:embeddedFont>
    <p:embeddedFont>
      <p:font typeface="Montserrat Medium" panose="020F0502020204030204" pitchFamily="34" charset="0"/>
      <p:regular r:id="rId27"/>
      <p:bold r:id="rId28"/>
      <p:italic r:id="rId29"/>
      <p:boldItalic r:id="rId30"/>
    </p:embeddedFont>
    <p:embeddedFont>
      <p:font typeface="Trebuchet MS" panose="020B070302020209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OMEprGSeSrGFtLjYVn/0cz7N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DE"/>
    <a:srgbClr val="EC585D"/>
    <a:srgbClr val="FF6168"/>
    <a:srgbClr val="FF0000"/>
    <a:srgbClr val="F6CFD0"/>
    <a:srgbClr val="FF0300"/>
    <a:srgbClr val="C00000"/>
    <a:srgbClr val="FF2A00"/>
    <a:srgbClr val="F32600"/>
    <a:srgbClr val="FF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027BA-E53D-444C-AB0D-490567FEE10E}" v="87" dt="2024-05-06T03:15:06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4"/>
    <p:restoredTop sz="94648"/>
  </p:normalViewPr>
  <p:slideViewPr>
    <p:cSldViewPr snapToGrid="0">
      <p:cViewPr varScale="1">
        <p:scale>
          <a:sx n="117" d="100"/>
          <a:sy n="117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bb26f517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11bb26f517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1" name="Google Shape;1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ca9f35dc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2cca9f35dc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FAFB4775-65C4-56E5-E77A-421F00C9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2711B4A1-948A-5DC5-4F37-8791691167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F248BFBB-CB93-EA7F-6745-7DF6D81BC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1966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EAF8D680-987A-10E2-3111-1B5E11C4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457851EF-4AB5-DE7A-F63A-F4390AA61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9F4E019C-6EC9-7204-4FE6-47F9AEAAA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6565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C6BB8CA9-74D7-87BF-07F5-FDAB5046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20877564-14BD-04FC-3B21-E6BA269A8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F5691460-9103-57BB-23A4-A7DA0D731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7268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62429937-4F2C-C9A6-B8A1-0F7EB523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2B84CB3D-EF7A-94D9-55CC-E102B2EC3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0C6DE614-EC07-CFBC-38BF-88D275DD6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609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1418D80-76E7-E014-8243-6B260F9B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AECE09D1-2D54-007B-5719-7463D4EB2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655AD4B0-9C8D-AC87-E68B-DC1DB761C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4175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D12D901D-9A70-6D06-8F97-0DBEB47C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D4546D04-0717-2A52-B675-609FE1CD0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CBBBF77F-CA73-C8FB-FE0D-93F6A1781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992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863034D0-D1DA-9829-0171-06F4FC06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EE2DCB7F-1EAB-C8FD-9195-3F0D6A84A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E56FE468-3205-86B1-1504-7EF611920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5444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8F9BD648-3C24-83B7-E4C6-7E805F55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AEBB1F9D-AF80-43D3-8DBB-ACB9D873F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10145042-7D93-E904-D42A-BFA63B6AA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3839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9307E30-3270-DA91-4920-FC0750DDC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D28BAE90-5E24-2262-D0D2-3E2170BE4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BD715613-F6F4-00D8-5D2F-C11D9DE88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2510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>
            <a:spLocks noGrp="1"/>
          </p:cNvSpPr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subTitle" idx="1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34"/>
          <p:cNvSpPr txBox="1">
            <a:spLocks noGrp="1"/>
          </p:cNvSpPr>
          <p:nvPr>
            <p:ph type="body" idx="2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sz="96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3" name="Google Shape;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body" idx="1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marL="914400" lvl="1" indent="-31089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0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sz="6000" b="1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body" idx="1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67" name="Google Shape;6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sz="32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1" name="Google Shape;7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5" name="Google Shape;7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9" name="Google Shape;7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0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4" name="Google Shape;8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3"/>
          <p:cNvSpPr txBox="1">
            <a:spLocks noGrp="1"/>
          </p:cNvSpPr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sz="60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3"/>
          <p:cNvSpPr txBox="1">
            <a:spLocks noGrp="1"/>
          </p:cNvSpPr>
          <p:nvPr>
            <p:ph type="body" idx="1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3"/>
          <p:cNvSpPr txBox="1">
            <a:spLocks noGrp="1"/>
          </p:cNvSpPr>
          <p:nvPr>
            <p:ph type="body" idx="2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3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body" idx="4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body" idx="5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body" idx="6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body" idx="7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body" idx="8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3"/>
          <p:cNvSpPr txBox="1">
            <a:spLocks noGrp="1"/>
          </p:cNvSpPr>
          <p:nvPr>
            <p:ph type="body" idx="9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3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body" idx="14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body" idx="15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7"/>
          <p:cNvSpPr txBox="1">
            <a:spLocks noGrp="1"/>
          </p:cNvSpPr>
          <p:nvPr>
            <p:ph type="body" idx="1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18" name="Google Shape;11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4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47"/>
          <p:cNvSpPr txBox="1">
            <a:spLocks noGrp="1"/>
          </p:cNvSpPr>
          <p:nvPr>
            <p:ph type="body" idx="3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3" name="Google Shape;123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5" name="Google Shape;145;g128e061f2de_0_109"/>
          <p:cNvSpPr txBox="1">
            <a:spLocks noGrp="1"/>
          </p:cNvSpPr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7" name="Google Shape;147;g128e061f2de_0_109">
            <a:hlinkClick r:id=""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28e061f2de_0_109">
            <a:hlinkClick r:id=""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28e061f2de_0_109"/>
          <p:cNvSpPr txBox="1">
            <a:spLocks noGrp="1"/>
          </p:cNvSpPr>
          <p:nvPr>
            <p:ph type="sldNum" idx="12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sz="1200" b="0" i="0" u="none" strike="noStrike" cap="non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bb26f517d_0_1"/>
          <p:cNvSpPr txBox="1">
            <a:spLocks noGrp="1"/>
          </p:cNvSpPr>
          <p:nvPr>
            <p:ph type="ctrTitle"/>
          </p:nvPr>
        </p:nvSpPr>
        <p:spPr>
          <a:xfrm>
            <a:off x="1506472" y="860865"/>
            <a:ext cx="8640813" cy="15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Hệ</a:t>
            </a:r>
            <a:r>
              <a:rPr lang="en-US" b="1" dirty="0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thống</a:t>
            </a:r>
            <a:r>
              <a:rPr lang="en-US" b="1" dirty="0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bán</a:t>
            </a:r>
            <a:r>
              <a:rPr lang="en-US" b="1" dirty="0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hàng</a:t>
            </a:r>
            <a:r>
              <a:rPr lang="en-US" b="1" dirty="0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trực</a:t>
            </a:r>
            <a:r>
              <a:rPr lang="en-US" b="1" dirty="0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"/>
                <a:ea typeface="Aptos Display" pitchFamily="34" charset="-122"/>
                <a:cs typeface="Aptos Display" pitchFamily="34" charset="-120"/>
              </a:rPr>
              <a:t>tuyến</a:t>
            </a:r>
            <a:br>
              <a:rPr lang="en-US" dirty="0">
                <a:solidFill>
                  <a:schemeClr val="tx1"/>
                </a:solidFill>
                <a:latin typeface=""/>
              </a:rPr>
            </a:br>
            <a:endParaRPr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57" name="Google Shape;157;g11bb26f517d_0_1"/>
          <p:cNvSpPr txBox="1">
            <a:spLocks noGrp="1"/>
          </p:cNvSpPr>
          <p:nvPr>
            <p:ph type="subTitle" idx="1"/>
          </p:nvPr>
        </p:nvSpPr>
        <p:spPr>
          <a:xfrm>
            <a:off x="1054200" y="2717225"/>
            <a:ext cx="5041800" cy="48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NHÓM: 1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11bb26f517d_0_1"/>
          <p:cNvSpPr txBox="1">
            <a:spLocks noGrp="1"/>
          </p:cNvSpPr>
          <p:nvPr>
            <p:ph type="body" idx="2"/>
          </p:nvPr>
        </p:nvSpPr>
        <p:spPr>
          <a:xfrm>
            <a:off x="1375844" y="377569"/>
            <a:ext cx="815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</a:pPr>
            <a:r>
              <a:rPr lang="en-US" sz="4000" dirty="0"/>
              <a:t>MINI PROJECT </a:t>
            </a:r>
            <a:endParaRPr sz="4000" dirty="0"/>
          </a:p>
        </p:txBody>
      </p:sp>
      <p:sp>
        <p:nvSpPr>
          <p:cNvPr id="159" name="Google Shape;159;g11bb26f517d_0_1"/>
          <p:cNvSpPr txBox="1"/>
          <p:nvPr/>
        </p:nvSpPr>
        <p:spPr>
          <a:xfrm>
            <a:off x="1151862" y="2871026"/>
            <a:ext cx="4846475" cy="246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Đỗ Ngọc Dân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Nguyễn Ngọc Thanh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Tạ Xuân Chiến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Trần Văn Thắng</a:t>
            </a:r>
          </a:p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Trần Thị Khánh Huyền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vi-VN"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11bb26f517d_0_1"/>
          <p:cNvSpPr txBox="1">
            <a:spLocks noGrp="1"/>
          </p:cNvSpPr>
          <p:nvPr>
            <p:ph type="subTitle" idx="1"/>
          </p:nvPr>
        </p:nvSpPr>
        <p:spPr>
          <a:xfrm>
            <a:off x="6713200" y="2717225"/>
            <a:ext cx="308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MENTOR: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11bb26f517d_0_1"/>
          <p:cNvSpPr txBox="1"/>
          <p:nvPr/>
        </p:nvSpPr>
        <p:spPr>
          <a:xfrm>
            <a:off x="6874500" y="2871026"/>
            <a:ext cx="42633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Hồ</a:t>
            </a: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Xuân Hùng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 Xuân Chinh</a:t>
            </a:r>
            <a:endParaRPr sz="24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57" grpId="0" build="p"/>
      <p:bldP spid="158" grpId="0" build="p"/>
      <p:bldP spid="159" grpId="0"/>
      <p:bldP spid="160" grpId="0" build="p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1. MỤC TIÊU DỰ ÁN</a:t>
            </a:r>
            <a:endParaRPr dirty="0"/>
          </a:p>
        </p:txBody>
      </p:sp>
      <p:sp>
        <p:nvSpPr>
          <p:cNvPr id="174" name="Google Shape;174;p1"/>
          <p:cNvSpPr txBox="1"/>
          <p:nvPr/>
        </p:nvSpPr>
        <p:spPr>
          <a:xfrm>
            <a:off x="1088571" y="1262164"/>
            <a:ext cx="10395858" cy="516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Xây dựng tài liệu và mô hình dữ liệu giúp sinh viên nắm quy trình hoạt động của hệ thống bán hàng trực tuyến.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Xác định đầy đủ dữ liệu cần lưu trữ trong CSDL (khách hàng, danh mục, sản phẩm, đơn hàng, chi tiết đơn).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Thiết lập và mô tả rõ mối quan hệ giữa các bảng để đảm bảo truy vấn đúng.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Làm nền tảng cho việc thực hành truy vấn MySQL (SELECT) từ cơ bản đến nâng cao.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Chuẩn hóa tài liệu hướng dẫn: sinh viên đọc SRS trước khi thực hành truy vấn dữ liệu.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ca9f35dc4_0_6"/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2. PHẠM VI HỆ THỐNG</a:t>
            </a:r>
            <a:endParaRPr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FC15819A-0998-2D82-A987-247A3C18B141}"/>
              </a:ext>
            </a:extLst>
          </p:cNvPr>
          <p:cNvSpPr/>
          <p:nvPr/>
        </p:nvSpPr>
        <p:spPr>
          <a:xfrm>
            <a:off x="471133" y="1273930"/>
            <a:ext cx="5440680" cy="46261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F7A74-DF9B-F236-D330-DF63708A172C}"/>
              </a:ext>
            </a:extLst>
          </p:cNvPr>
          <p:cNvSpPr txBox="1"/>
          <p:nvPr/>
        </p:nvSpPr>
        <p:spPr>
          <a:xfrm>
            <a:off x="936171" y="1609597"/>
            <a:ext cx="3494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Trong </a:t>
            </a:r>
            <a:r>
              <a:rPr lang="en-US" sz="2000" b="1" dirty="0" err="1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phạm</a:t>
            </a:r>
            <a:r>
              <a:rPr lang="en-US" sz="2000" b="1" dirty="0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 vi (In-scope)</a:t>
            </a:r>
            <a:endParaRPr lang="en-US" sz="2000" dirty="0">
              <a:latin typeface="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A7CE3-FBC6-A96C-1662-77C28C2BDC0C}"/>
              </a:ext>
            </a:extLst>
          </p:cNvPr>
          <p:cNvSpPr txBox="1"/>
          <p:nvPr/>
        </p:nvSpPr>
        <p:spPr>
          <a:xfrm>
            <a:off x="1132115" y="2009707"/>
            <a:ext cx="3763409" cy="2539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Quản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lý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khách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hàng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Quản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lý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danh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mục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sản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phẩm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Quản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lý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sản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phẩm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Quản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lý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đơn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hàng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Quản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lý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chi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tiết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đơn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hàng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Hỗ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trợ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truy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vấn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thống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kê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báo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cáo</a:t>
            </a:r>
            <a:endParaRPr lang="en-US" sz="2000" dirty="0">
              <a:latin typeface="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83714BB6-714C-69FF-4F2E-9DF5C68D7024}"/>
              </a:ext>
            </a:extLst>
          </p:cNvPr>
          <p:cNvSpPr/>
          <p:nvPr/>
        </p:nvSpPr>
        <p:spPr>
          <a:xfrm>
            <a:off x="6107757" y="1273930"/>
            <a:ext cx="5322243" cy="46261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88B9C-137E-3A6F-4B9B-A0634BA8D3CE}"/>
              </a:ext>
            </a:extLst>
          </p:cNvPr>
          <p:cNvSpPr txBox="1"/>
          <p:nvPr/>
        </p:nvSpPr>
        <p:spPr>
          <a:xfrm>
            <a:off x="6830785" y="1542812"/>
            <a:ext cx="4082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Ngoài</a:t>
            </a:r>
            <a:r>
              <a:rPr lang="en-US" sz="2000" b="1" dirty="0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phạm</a:t>
            </a:r>
            <a:r>
              <a:rPr lang="en-US" sz="2000" b="1" dirty="0">
                <a:solidFill>
                  <a:srgbClr val="111827"/>
                </a:solidFill>
                <a:latin typeface=""/>
                <a:ea typeface="Aptos Display" pitchFamily="34" charset="-122"/>
                <a:cs typeface="Aptos Display" pitchFamily="34" charset="-120"/>
              </a:rPr>
              <a:t> vi (Out-of-scope)</a:t>
            </a:r>
            <a:endParaRPr lang="en-US" sz="2000" dirty="0">
              <a:latin typeface=""/>
            </a:endParaRPr>
          </a:p>
          <a:p>
            <a:endParaRPr lang="en-V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98F68-4ABC-BD7D-A42D-27C0792FF944}"/>
              </a:ext>
            </a:extLst>
          </p:cNvPr>
          <p:cNvSpPr txBox="1"/>
          <p:nvPr/>
        </p:nvSpPr>
        <p:spPr>
          <a:xfrm>
            <a:off x="6683829" y="2025737"/>
            <a:ext cx="437605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Không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bao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gồm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thanh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toán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trực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tuyến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Không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yêu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cầu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chức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năng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đăng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nhập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/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phân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quyền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(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trọng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tâm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: CSDL)</a:t>
            </a:r>
            <a:endParaRPr lang="en-US" sz="2000" dirty="0">
              <a:latin typeface=""/>
            </a:endParaRPr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Không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yêu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cầu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vận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chuyển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/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kho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/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hoàn</a:t>
            </a:r>
            <a:r>
              <a:rPr lang="en-US" sz="2000" dirty="0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"/>
                <a:ea typeface="Aptos" pitchFamily="34" charset="-122"/>
                <a:cs typeface="Aptos" pitchFamily="34" charset="-120"/>
              </a:rPr>
              <a:t>tiền</a:t>
            </a:r>
            <a:endParaRPr lang="en-US" sz="2000" dirty="0">
              <a:latin typeface=""/>
            </a:endParaRPr>
          </a:p>
          <a:p>
            <a:endParaRPr lang="en-VN" sz="2000" dirty="0">
              <a:latin typeface="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/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3.Tổng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C33366-0B22-19B8-9FC6-5395CC0F4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6" y="1291646"/>
            <a:ext cx="10885714" cy="505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259918D-5C16-D1F5-D552-7D148564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B6C654CB-E3B1-45DE-5AAF-FE4A9D6F7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3.TỔNG QUAN HỆ THỐNG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ECA72D-D0D7-D3E3-3F87-80B35BEEA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9" y="1259264"/>
            <a:ext cx="10668000" cy="49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6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AE5A16D9-7689-48A9-BD7B-DC11E0BE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A41A9BD5-987A-3647-7B2F-8FEF25D0C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4.DỮ LIỆU CHI TIẾT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84F430-97D8-1D7F-D8B0-BB627DBFC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6" y="1159121"/>
            <a:ext cx="11244943" cy="51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91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1D15D131-ECAD-AAC1-8291-43CC5ED2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30372EF4-3AD4-BAA2-9360-2B144C0C2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4.DỮ LIỆU CHI TIẾT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ACFE76-2FF8-2F62-3C53-0A9904D51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9" y="1099457"/>
            <a:ext cx="10940141" cy="532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02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3720FC4C-43F9-81C7-706A-EF771272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1469AF2A-398D-9E4D-C947-814146AD5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4.DỮ LIỆU CHI TIẾT</a:t>
            </a:r>
            <a:endParaRPr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4211D5-228D-8239-0231-DF2635898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1186543"/>
            <a:ext cx="10951029" cy="52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540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C6F3B043-04AD-A9A6-AE32-057CF17C9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32BD5AE2-59C1-9A46-349C-926CBBBDF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4.DỮ LIỆU CHI TIẾT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4F048F-E6AF-51A8-8DF1-CC8350702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208314"/>
            <a:ext cx="10809514" cy="513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8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9B8F917E-2D0D-8A4D-0FC5-3D22BD2EA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E7C42088-E7C3-6C2A-84D4-F05666BA9D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5. MỐI QUAN HỆ DỮ LIỆU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21234-DA8B-2F57-02F5-16583EB33062}"/>
              </a:ext>
            </a:extLst>
          </p:cNvPr>
          <p:cNvSpPr txBox="1"/>
          <p:nvPr/>
        </p:nvSpPr>
        <p:spPr>
          <a:xfrm>
            <a:off x="1273629" y="1341346"/>
            <a:ext cx="97536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1 .Customers – Orders (1–N)</a:t>
            </a:r>
            <a:endParaRPr lang="vi-VN" sz="1600" dirty="0">
              <a:latin typeface="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Một </a:t>
            </a:r>
            <a:r>
              <a:rPr lang="vi-VN" sz="1600" b="1" dirty="0">
                <a:latin typeface=""/>
              </a:rPr>
              <a:t>khách hàng</a:t>
            </a:r>
            <a:r>
              <a:rPr lang="vi-VN" sz="1600" dirty="0">
                <a:latin typeface=""/>
              </a:rPr>
              <a:t> có thể </a:t>
            </a:r>
            <a:r>
              <a:rPr lang="vi-VN" sz="1600" b="1" dirty="0">
                <a:latin typeface=""/>
              </a:rPr>
              <a:t>đặt nhiều đơn hàng</a:t>
            </a:r>
            <a:r>
              <a:rPr lang="vi-VN" sz="1600" dirty="0">
                <a:latin typeface=""/>
              </a:rPr>
              <a:t>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Mỗi </a:t>
            </a:r>
            <a:r>
              <a:rPr lang="vi-VN" sz="1600" b="1" dirty="0">
                <a:latin typeface=""/>
              </a:rPr>
              <a:t>đơn hàng</a:t>
            </a:r>
            <a:r>
              <a:rPr lang="vi-VN" sz="1600" dirty="0">
                <a:latin typeface=""/>
              </a:rPr>
              <a:t> chỉ thuộc về </a:t>
            </a:r>
            <a:r>
              <a:rPr lang="vi-VN" sz="1600" b="1" dirty="0">
                <a:latin typeface=""/>
              </a:rPr>
              <a:t>một khách hàng</a:t>
            </a:r>
            <a:r>
              <a:rPr lang="vi-VN" sz="1600" dirty="0">
                <a:latin typeface="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2.Categories – Products (1–N)</a:t>
            </a:r>
            <a:endParaRPr lang="vi-VN" sz="1600" dirty="0">
              <a:latin typeface="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Một </a:t>
            </a:r>
            <a:r>
              <a:rPr lang="vi-VN" sz="1600" b="1" dirty="0">
                <a:latin typeface=""/>
              </a:rPr>
              <a:t>danh mục</a:t>
            </a:r>
            <a:r>
              <a:rPr lang="vi-VN" sz="1600" dirty="0">
                <a:latin typeface=""/>
              </a:rPr>
              <a:t> có </a:t>
            </a:r>
            <a:r>
              <a:rPr lang="vi-VN" sz="1600" b="1" dirty="0">
                <a:latin typeface=""/>
              </a:rPr>
              <a:t>nhiều sản phẩm</a:t>
            </a:r>
            <a:r>
              <a:rPr lang="vi-VN" sz="1600" dirty="0">
                <a:latin typeface=""/>
              </a:rPr>
              <a:t>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Mỗi </a:t>
            </a:r>
            <a:r>
              <a:rPr lang="vi-VN" sz="1600" b="1" dirty="0">
                <a:latin typeface=""/>
              </a:rPr>
              <a:t>sản phẩm</a:t>
            </a:r>
            <a:r>
              <a:rPr lang="vi-VN" sz="1600" dirty="0">
                <a:latin typeface=""/>
              </a:rPr>
              <a:t> chỉ thuộc </a:t>
            </a:r>
            <a:r>
              <a:rPr lang="vi-VN" sz="1600" b="1" dirty="0">
                <a:latin typeface=""/>
              </a:rPr>
              <a:t>một danh mục</a:t>
            </a:r>
            <a:r>
              <a:rPr lang="vi-VN" sz="1600" dirty="0">
                <a:latin typeface="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3.Orders – Order_Items (1–N)</a:t>
            </a:r>
            <a:endParaRPr lang="vi-VN" sz="1600" dirty="0">
              <a:latin typeface="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Một </a:t>
            </a:r>
            <a:r>
              <a:rPr lang="vi-VN" sz="1600" b="1" dirty="0">
                <a:latin typeface=""/>
              </a:rPr>
              <a:t>đơn hàng</a:t>
            </a:r>
            <a:r>
              <a:rPr lang="vi-VN" sz="1600" dirty="0">
                <a:latin typeface=""/>
              </a:rPr>
              <a:t> có </a:t>
            </a:r>
            <a:r>
              <a:rPr lang="vi-VN" sz="1600" b="1" dirty="0">
                <a:latin typeface=""/>
              </a:rPr>
              <a:t>nhiều chi tiết đơn hàng</a:t>
            </a:r>
            <a:r>
              <a:rPr lang="vi-VN" sz="1600" dirty="0">
                <a:latin typeface=""/>
              </a:rPr>
              <a:t>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Mỗi </a:t>
            </a:r>
            <a:r>
              <a:rPr lang="vi-VN" sz="1600" b="1" dirty="0">
                <a:latin typeface=""/>
              </a:rPr>
              <a:t>chi tiết đơn hàng</a:t>
            </a:r>
            <a:r>
              <a:rPr lang="vi-VN" sz="1600" dirty="0">
                <a:latin typeface=""/>
              </a:rPr>
              <a:t> thuộc </a:t>
            </a:r>
            <a:r>
              <a:rPr lang="vi-VN" sz="1600" b="1" dirty="0">
                <a:latin typeface=""/>
              </a:rPr>
              <a:t>một đơn hàng</a:t>
            </a:r>
            <a:r>
              <a:rPr lang="vi-VN" sz="1600" dirty="0">
                <a:latin typeface="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vi-VN" sz="1600" b="1" dirty="0">
                <a:latin typeface=""/>
              </a:rPr>
              <a:t>4.Products – Order_Items (1–N)</a:t>
            </a:r>
            <a:endParaRPr lang="vi-VN" sz="1600" dirty="0">
              <a:latin typeface="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Một </a:t>
            </a:r>
            <a:r>
              <a:rPr lang="vi-VN" sz="1600" b="1" dirty="0">
                <a:latin typeface=""/>
              </a:rPr>
              <a:t>sản phẩm</a:t>
            </a:r>
            <a:r>
              <a:rPr lang="vi-VN" sz="1600" dirty="0">
                <a:latin typeface=""/>
              </a:rPr>
              <a:t> có thể xuất hiện trong </a:t>
            </a:r>
            <a:r>
              <a:rPr lang="vi-VN" sz="1600" b="1" dirty="0">
                <a:latin typeface=""/>
              </a:rPr>
              <a:t>nhiều đơn hàng khác nhau</a:t>
            </a:r>
            <a:r>
              <a:rPr lang="vi-VN" sz="1600" dirty="0">
                <a:latin typeface=""/>
              </a:rPr>
              <a:t>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Mỗi </a:t>
            </a:r>
            <a:r>
              <a:rPr lang="vi-VN" sz="1600" b="1" dirty="0">
                <a:latin typeface=""/>
              </a:rPr>
              <a:t>chi tiết đơn hàng</a:t>
            </a:r>
            <a:r>
              <a:rPr lang="vi-VN" sz="1600" dirty="0">
                <a:latin typeface=""/>
              </a:rPr>
              <a:t> chỉ gắn với </a:t>
            </a:r>
            <a:r>
              <a:rPr lang="vi-VN" sz="1600" b="1" dirty="0">
                <a:latin typeface=""/>
              </a:rPr>
              <a:t>một sản phẩm</a:t>
            </a:r>
            <a:r>
              <a:rPr lang="vi-VN" sz="1600" dirty="0">
                <a:latin typeface="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vi-VN" sz="1600" dirty="0">
                <a:latin typeface=""/>
              </a:rPr>
              <a:t>=&gt; </a:t>
            </a:r>
            <a:r>
              <a:rPr lang="vi-VN" sz="1600" b="1" dirty="0">
                <a:latin typeface=""/>
              </a:rPr>
              <a:t>Orders và Products có quan hệ N–N</a:t>
            </a:r>
            <a:r>
              <a:rPr lang="vi-VN" sz="1600" dirty="0">
                <a:latin typeface=""/>
              </a:rPr>
              <a:t>, được </a:t>
            </a:r>
            <a:r>
              <a:rPr lang="vi-VN" sz="1600" b="1" dirty="0">
                <a:latin typeface=""/>
              </a:rPr>
              <a:t>tách ra bằng bảng trung gian order_items</a:t>
            </a:r>
            <a:r>
              <a:rPr lang="vi-VN" sz="1600" dirty="0">
                <a:latin typeface=""/>
              </a:rPr>
              <a:t>.</a:t>
            </a:r>
          </a:p>
          <a:p>
            <a:endParaRPr lang="vi-VN" sz="16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938396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5A5ABD28-608D-52B7-EA48-3BC8076A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64B663B4-97E6-BAA8-C7F0-4AAF016A6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6. </a:t>
            </a:r>
            <a:r>
              <a:rPr lang="vi-VN" dirty="0"/>
              <a:t>ERD (SƠ ĐỒ THỰC THỂ – QUAN HỆ)</a:t>
            </a:r>
            <a:br>
              <a:rPr lang="vi-VN" dirty="0"/>
            </a:br>
            <a:endParaRPr dirty="0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F95599FC-CFEF-563C-F6F8-2A74034E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1" y="957943"/>
            <a:ext cx="9916886" cy="52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81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968B995-2443-8914-729D-04575A0E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D83D1121-956B-CFE9-F4D7-FA3DCC366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7.YÊU CẦU TRUY VẤN &amp; SQL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F6967-29A9-7CB0-36B0-73BF4C5535B2}"/>
              </a:ext>
            </a:extLst>
          </p:cNvPr>
          <p:cNvSpPr txBox="1"/>
          <p:nvPr/>
        </p:nvSpPr>
        <p:spPr>
          <a:xfrm>
            <a:off x="1187605" y="1290634"/>
            <a:ext cx="8948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vi-VN" sz="2000" dirty="0">
                <a:latin typeface=""/>
              </a:rPr>
            </a:br>
            <a:endParaRPr lang="vi-VN" sz="2000" dirty="0">
              <a:latin typeface="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BB67B-45A4-A633-3FD4-9DD92A0A7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3" y="1290634"/>
            <a:ext cx="10972800" cy="5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53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81A1E316-C0ED-80A6-75A6-0DAF8425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A0BFB4AE-B4EC-59EC-C648-812EA1F171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0102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3100" dirty="0"/>
              <a:t>8. KẾT LUẬN</a:t>
            </a:r>
            <a:br>
              <a:rPr lang="en-US" dirty="0"/>
            </a:br>
            <a:r>
              <a:rPr lang="en-US" dirty="0"/>
              <a:t>	</a:t>
            </a:r>
            <a:br>
              <a:rPr lang="vi-VN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16593-7795-2973-92DA-E62FF426564A}"/>
              </a:ext>
            </a:extLst>
          </p:cNvPr>
          <p:cNvSpPr txBox="1"/>
          <p:nvPr/>
        </p:nvSpPr>
        <p:spPr>
          <a:xfrm>
            <a:off x="1230086" y="1846620"/>
            <a:ext cx="101672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vi-VN" sz="2400" dirty="0">
                <a:latin typeface=""/>
              </a:rPr>
              <a:t>Hệ thống bán hàng trực tuyến giúp quản lý </a:t>
            </a:r>
            <a:r>
              <a:rPr lang="vi-VN" sz="2400" b="1" dirty="0">
                <a:latin typeface=""/>
              </a:rPr>
              <a:t>khách hàng, sản phẩm, danh mục, đơn hàng và chi tiết đơn hàng</a:t>
            </a:r>
            <a:r>
              <a:rPr lang="vi-VN" sz="2400" dirty="0">
                <a:latin typeface="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vi-VN" sz="2400" dirty="0">
              <a:latin typeface="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vi-VN" sz="2400" dirty="0">
                <a:latin typeface=""/>
              </a:rPr>
              <a:t>Các bảng được liên kết đúng nên dễ </a:t>
            </a:r>
            <a:r>
              <a:rPr lang="vi-VN" sz="2400" b="1" dirty="0">
                <a:latin typeface=""/>
              </a:rPr>
              <a:t>lấy dữ liệu, thống kê và làm báo cáo</a:t>
            </a:r>
            <a:r>
              <a:rPr lang="vi-VN" sz="2400" dirty="0">
                <a:latin typeface="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vi-VN" sz="2400" dirty="0">
              <a:latin typeface="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vi-VN" sz="2400" dirty="0">
                <a:latin typeface=""/>
              </a:rPr>
              <a:t>Đây là nền tảng để thực hành SQL như </a:t>
            </a:r>
            <a:r>
              <a:rPr lang="vi-VN" sz="2400" b="1" dirty="0">
                <a:latin typeface=""/>
              </a:rPr>
              <a:t>SELECT, JOIN, GROUP BY, HAVING và Subquery</a:t>
            </a:r>
            <a:r>
              <a:rPr lang="vi-VN" sz="2400" dirty="0">
                <a:latin typeface="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97E33-91BD-B9F7-6472-E05FCDE21B02}"/>
              </a:ext>
            </a:extLst>
          </p:cNvPr>
          <p:cNvSpPr txBox="1"/>
          <p:nvPr/>
        </p:nvSpPr>
        <p:spPr>
          <a:xfrm>
            <a:off x="3713356" y="74713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8326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</a:pPr>
            <a:r>
              <a:rPr lang="en-US" dirty="0"/>
              <a:t>KẾT THÚC</a:t>
            </a:r>
            <a:endParaRPr dirty="0"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HỌC VIỆN ĐÀO TẠO LẬP TRÌNH CHẤT LƯỢNG NHẬT BẢN</a:t>
            </a:r>
            <a:endParaRPr/>
          </a:p>
        </p:txBody>
      </p:sp>
      <p:sp>
        <p:nvSpPr>
          <p:cNvPr id="3" name="Google Shape;251;p19">
            <a:extLst>
              <a:ext uri="{FF2B5EF4-FFF2-40B4-BE49-F238E27FC236}">
                <a16:creationId xmlns:a16="http://schemas.microsoft.com/office/drawing/2014/main" id="{20C7D954-D6BB-9656-1C32-E7C62031DDC8}"/>
              </a:ext>
            </a:extLst>
          </p:cNvPr>
          <p:cNvSpPr txBox="1">
            <a:spLocks/>
          </p:cNvSpPr>
          <p:nvPr/>
        </p:nvSpPr>
        <p:spPr>
          <a:xfrm>
            <a:off x="455089" y="2156641"/>
            <a:ext cx="12288146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CẢM ƠN MỌI NGƯỜI ĐÃ LẮNG NGHE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9612</TotalTime>
  <Words>544</Words>
  <Application>Microsoft Macintosh PowerPoint</Application>
  <PresentationFormat>Widescreen</PresentationFormat>
  <Paragraphs>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Montserrat</vt:lpstr>
      <vt:lpstr>Montserrat Black</vt:lpstr>
      <vt:lpstr>Arial</vt:lpstr>
      <vt:lpstr>Trebuchet MS</vt:lpstr>
      <vt:lpstr>Montserrat Medium</vt:lpstr>
      <vt:lpstr>Calibri</vt:lpstr>
      <vt:lpstr>Montserrat ExtraBold</vt:lpstr>
      <vt:lpstr>Wingdings</vt:lpstr>
      <vt:lpstr>Courier New</vt:lpstr>
      <vt:lpstr>Office Theme</vt:lpstr>
      <vt:lpstr>Hệ thống bán hàng trực tuyến </vt:lpstr>
      <vt:lpstr>1. MỤC TIÊU DỰ ÁN</vt:lpstr>
      <vt:lpstr>2. PHẠM VI HỆ THỐNG</vt:lpstr>
      <vt:lpstr>3.Tổng quan hệ thống </vt:lpstr>
      <vt:lpstr>3.TỔNG QUAN HỆ THỐNG</vt:lpstr>
      <vt:lpstr>4.DỮ LIỆU CHI TIẾT</vt:lpstr>
      <vt:lpstr>4.DỮ LIỆU CHI TIẾT</vt:lpstr>
      <vt:lpstr>4.DỮ LIỆU CHI TIẾT</vt:lpstr>
      <vt:lpstr>4.DỮ LIỆU CHI TIẾT</vt:lpstr>
      <vt:lpstr>5. MỐI QUAN HỆ DỮ LIỆU </vt:lpstr>
      <vt:lpstr>6. ERD (SƠ ĐỒ THỰC THỂ – QUAN HỆ) </vt:lpstr>
      <vt:lpstr>7.YÊU CẦU TRUY VẤN &amp; SQL</vt:lpstr>
      <vt:lpstr>8. KẾT LUẬN   </vt:lpstr>
      <vt:lpstr>KẾT THÚC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CV</dc:title>
  <dc:creator>QuangND</dc:creator>
  <cp:lastModifiedBy>Mac Pro</cp:lastModifiedBy>
  <cp:revision>14</cp:revision>
  <dcterms:modified xsi:type="dcterms:W3CDTF">2026-01-07T07:02:48Z</dcterms:modified>
</cp:coreProperties>
</file>